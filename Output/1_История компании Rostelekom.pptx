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2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52560-35A4-4345-A414-56F554EAA1CD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D70D8-F689-43F8-9933-80395C8FEE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93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Подчеркнуть значимость объединения активов.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Указать на важность проекта «Электронная Россия».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Показать инфографику с иконками достижений.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Описать значение проекта Smart 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Разделитель для перехода к этапам развития.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Показать временные метки и значимые события.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Таблица с крупными сделками и их результатами.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45720"/>
            <a:ext cx="2651760" cy="2651760"/>
          </a:xfrm>
          <a:prstGeom prst="ellipse">
            <a:avLst/>
          </a:prstGeom>
          <a:solidFill>
            <a:srgbClr val="33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3840480" cy="128016"/>
          </a:xfrm>
          <a:prstGeom prst="rect">
            <a:avLst/>
          </a:prstGeom>
          <a:solidFill>
            <a:srgbClr val="00A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400300"/>
            <a:ext cx="105457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500" b="1" dirty="0" err="1">
                <a:solidFill>
                  <a:srgbClr val="0072C6"/>
                </a:solidFill>
                <a:latin typeface="Segoe UI Semibold"/>
              </a:rPr>
              <a:t>История</a:t>
            </a:r>
            <a:r>
              <a:rPr sz="5500" b="1" dirty="0">
                <a:solidFill>
                  <a:srgbClr val="0072C6"/>
                </a:solidFill>
                <a:latin typeface="Segoe UI Semibold"/>
              </a:rPr>
              <a:t> </a:t>
            </a:r>
            <a:r>
              <a:rPr sz="5500" b="1" dirty="0" err="1">
                <a:solidFill>
                  <a:srgbClr val="0072C6"/>
                </a:solidFill>
                <a:latin typeface="Segoe UI Semibold"/>
              </a:rPr>
              <a:t>компании</a:t>
            </a:r>
            <a:r>
              <a:rPr sz="5500" b="1" dirty="0">
                <a:solidFill>
                  <a:srgbClr val="0072C6"/>
                </a:solidFill>
                <a:latin typeface="Segoe UI Semibold"/>
              </a:rPr>
              <a:t> </a:t>
            </a:r>
            <a:r>
              <a:rPr sz="5500" b="1" dirty="0" err="1">
                <a:solidFill>
                  <a:srgbClr val="0072C6"/>
                </a:solidFill>
                <a:latin typeface="Segoe UI Semibold"/>
              </a:rPr>
              <a:t>Rostelekom</a:t>
            </a:r>
            <a:endParaRPr sz="5500" b="1" dirty="0">
              <a:solidFill>
                <a:srgbClr val="0072C6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59" y="3765436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0" dirty="0" err="1">
                <a:solidFill>
                  <a:srgbClr val="CCCCCC"/>
                </a:solidFill>
                <a:latin typeface="Segoe UI"/>
              </a:rPr>
              <a:t>Эволюция</a:t>
            </a:r>
            <a:r>
              <a:rPr sz="2400" b="0" dirty="0">
                <a:solidFill>
                  <a:srgbClr val="CCCCCC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CCCCCC"/>
                </a:solidFill>
                <a:latin typeface="Segoe UI"/>
              </a:rPr>
              <a:t>крупнейшего</a:t>
            </a:r>
            <a:r>
              <a:rPr sz="2400" b="0" dirty="0">
                <a:solidFill>
                  <a:srgbClr val="CCCCCC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CCCCCC"/>
                </a:solidFill>
                <a:latin typeface="Segoe UI"/>
              </a:rPr>
              <a:t>телеком-оператора</a:t>
            </a:r>
            <a:r>
              <a:rPr sz="2400" b="0" dirty="0">
                <a:solidFill>
                  <a:srgbClr val="CCCCCC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CCCCCC"/>
                </a:solidFill>
                <a:latin typeface="Segoe UI"/>
              </a:rPr>
              <a:t>России</a:t>
            </a:r>
            <a:endParaRPr sz="2400" b="0" dirty="0">
              <a:solidFill>
                <a:srgbClr val="CCCCCC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3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33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0072C6"/>
                </a:solidFill>
                <a:latin typeface="Segoe UI Semibold"/>
              </a:rPr>
              <a:t>Основание и первые шаги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645919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72184"/>
            <a:ext cx="5852160" cy="30047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00AEEF"/>
                </a:solidFill>
                <a:latin typeface="Segoe UI"/>
              </a:rPr>
              <a:t>● 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Компания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основана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в 2009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году</a:t>
            </a:r>
            <a:endParaRPr sz="2000" dirty="0">
              <a:solidFill>
                <a:srgbClr val="000000"/>
              </a:solidFill>
              <a:latin typeface="Segoe UI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00AEEF"/>
                </a:solidFill>
                <a:latin typeface="Segoe UI"/>
              </a:rPr>
              <a:t>● 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Объединение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активов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государственных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телеком-операторов</a:t>
            </a:r>
            <a:endParaRPr sz="2000" dirty="0">
              <a:solidFill>
                <a:srgbClr val="000000"/>
              </a:solidFill>
              <a:latin typeface="Segoe UI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00AEEF"/>
                </a:solidFill>
                <a:latin typeface="Segoe UI"/>
              </a:rPr>
              <a:t>● 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Первоначальная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задача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—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создание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единой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сети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связи</a:t>
            </a:r>
            <a:endParaRPr sz="2000" dirty="0">
              <a:solidFill>
                <a:srgbClr val="000000"/>
              </a:solidFill>
              <a:latin typeface="Segoe UI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00AEEF"/>
                </a:solidFill>
                <a:latin typeface="Segoe UI"/>
              </a:rPr>
              <a:t>● 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Первая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крупная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сделка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—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покупка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Golden Telecom</a:t>
            </a: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00AEEF"/>
                </a:solidFill>
                <a:latin typeface="Segoe UI"/>
              </a:rPr>
              <a:t>● 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Развитие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широкополосного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доступа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в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интернет</a:t>
            </a:r>
            <a:endParaRPr sz="2000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4668926"/>
            <a:ext cx="5852160" cy="1731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Segoe UI"/>
              </a:rPr>
              <a:t>В этом блоке разбирается, как компания основана в 2009 году влияет на общий результат команды. Отдельный акцент сделан на связи между направлениями «Компания основана в 2009 году» и «Объединение активов государственных телеком-операторов», чтобы показать логику принятия решений. Практическая ценность подхода проявляется в сценариях, где критичны «Объединение активов государственных телеком-операторов» и «Первоначальная задача — создание единой сети связи».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554480"/>
            <a:ext cx="4967935" cy="48463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3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33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0072C6"/>
                </a:solidFill>
                <a:latin typeface="Segoe UI Semibold"/>
              </a:rPr>
              <a:t>Развитие бизнеса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645919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852160" cy="30047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Расширение географии присутствия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Вхождение на рынок мобильной связи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Запуск проекта «Электронная Россия»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Инвестиции в развитие инфраструктуры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Сотрудничество с иностранными партнёрами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2966"/>
            <a:ext cx="5852160" cy="1731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 err="1">
                <a:solidFill>
                  <a:srgbClr val="000000"/>
                </a:solidFill>
                <a:latin typeface="Segoe UI"/>
              </a:rPr>
              <a:t>Компания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активно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развивала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свой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бизнес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выходя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на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новые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рынки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и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внедряя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передовые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технологии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что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способствовало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её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становлению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как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одного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из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лидеров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телеком-индустрии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. В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этом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блоке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разбирается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как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расширение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географии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присутствия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влияет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на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общий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результат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команды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.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Отдельный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акцент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сделан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на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связи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между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направлениями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Расширение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географии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присутствия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» и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Вхождение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на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рынок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мобильной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связи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»,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чтобы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показать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логику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принятия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решений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.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Практическая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ценность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подхода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проявляется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в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сценариях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где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критичны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Вхождение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на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рынок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мобильной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связи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» и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Запуск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проекта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Электронная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Россия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»».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554480"/>
            <a:ext cx="4967935" cy="48463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3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33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0072C6"/>
                </a:solidFill>
                <a:latin typeface="Segoe UI Semibold"/>
              </a:rPr>
              <a:t>Ключевые достижения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5282031" cy="4956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42735" y="1481328"/>
            <a:ext cx="5282031" cy="4956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21992"/>
            <a:ext cx="5135727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00AEEF"/>
                </a:solidFill>
                <a:latin typeface="Segoe UI"/>
              </a:rPr>
              <a:t>● 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Лидерство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в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предоставлении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услуг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связи</a:t>
            </a:r>
            <a:endParaRPr sz="2000" dirty="0">
              <a:solidFill>
                <a:srgbClr val="000000"/>
              </a:solidFill>
              <a:latin typeface="Segoe UI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00AEEF"/>
                </a:solidFill>
                <a:latin typeface="Segoe UI"/>
              </a:rPr>
              <a:t>● 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Развитие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цифровых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платформ</a:t>
            </a:r>
            <a:endParaRPr sz="2000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15888" y="2144268"/>
            <a:ext cx="5135727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00AEEF"/>
                </a:solidFill>
                <a:latin typeface="Segoe UI"/>
              </a:rPr>
              <a:t>● 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Внедрение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технологий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5G</a:t>
            </a: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00AEEF"/>
                </a:solidFill>
                <a:latin typeface="Segoe UI"/>
              </a:rPr>
              <a:t>● 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Подключение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удалённых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районов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к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интернету</a:t>
            </a:r>
            <a:endParaRPr sz="2000" dirty="0">
              <a:solidFill>
                <a:srgbClr val="000000"/>
              </a:solidFill>
              <a:latin typeface="Segoe UI"/>
            </a:endParaRPr>
          </a:p>
          <a:p>
            <a:pPr algn="l">
              <a:spcAft>
                <a:spcPts val="800"/>
              </a:spcAft>
            </a:pPr>
            <a:r>
              <a:rPr sz="2000" b="1" dirty="0">
                <a:solidFill>
                  <a:srgbClr val="00AEEF"/>
                </a:solidFill>
                <a:latin typeface="Segoe UI"/>
              </a:rPr>
              <a:t>● 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Rostelecom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достиг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значительных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успехов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в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области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телекоммуникаций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внедряя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передовые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технологии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и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обеспечивая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доступ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к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качественным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услугам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связи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для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всех</a:t>
            </a:r>
            <a:r>
              <a:rPr sz="20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Segoe UI"/>
              </a:rPr>
              <a:t>регионов</a:t>
            </a:r>
            <a:endParaRPr sz="2000" dirty="0">
              <a:solidFill>
                <a:srgbClr val="00000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3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33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0072C6"/>
                </a:solidFill>
                <a:latin typeface="Segoe UI Semibold"/>
              </a:rPr>
              <a:t>Инновационные проекты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645919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852160" cy="30047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Разработка собственных телеком-технологий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Создание платформы Smart City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Проект «Умный дом»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Интеграция искусственного интеллекта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Внедрение IoT-технологий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3883761"/>
            <a:ext cx="5852160" cy="1731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 err="1">
                <a:solidFill>
                  <a:srgbClr val="000000"/>
                </a:solidFill>
                <a:latin typeface="Segoe UI"/>
              </a:rPr>
              <a:t>Компания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активно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инвестирует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в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инновационные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проекты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направленные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на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улучшение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качества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жизни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населения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и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развитие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цифровой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экономики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. В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этом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блоке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разбирается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как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разработка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собственных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телеком-технологий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влияет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на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общий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результат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команды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.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Отдельный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акцент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сделан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на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связи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между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направлениями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Разработка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собственных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телеком-технологий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» и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Создание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платформы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Smart City»,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чтобы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показать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логику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принятия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решений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.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Практическая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ценность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подхода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проявляется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в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сценариях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где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критичны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Создание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платформы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Smart City» и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Проект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Умный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дом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»».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554480"/>
            <a:ext cx="4967935" cy="48463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>
                <a:solidFill>
                  <a:srgbClr val="EAF6FA"/>
                </a:solidFill>
                <a:latin typeface="Segoe UI Semibold"/>
              </a:rPr>
              <a:t>Вехи развития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3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33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0072C6"/>
                </a:solidFill>
                <a:latin typeface="Segoe UI Semibold"/>
              </a:rPr>
              <a:t>2010-2015 годы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645919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852160" cy="30047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Запуск услуги IPTV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Развитие фиксированной связи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Приобретение доли в «ВымпелКоме»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Вхождение на рынок B2B-услуг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EEF"/>
                </a:solidFill>
                <a:latin typeface="Segoe UI"/>
              </a:rPr>
              <a:t>●  </a:t>
            </a:r>
            <a:r>
              <a:rPr sz="2000">
                <a:solidFill>
                  <a:srgbClr val="000000"/>
                </a:solidFill>
                <a:latin typeface="Segoe UI"/>
              </a:rPr>
              <a:t>Создание дочерних компаний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96412"/>
            <a:ext cx="5852160" cy="1731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 err="1">
                <a:solidFill>
                  <a:srgbClr val="000000"/>
                </a:solidFill>
                <a:latin typeface="Segoe UI"/>
              </a:rPr>
              <a:t>Этот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период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характеризовался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быстрым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развитием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компании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и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расширением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её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продуктового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портфеля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что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позволило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занять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прочные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позиции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на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рынке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телекоммуникаций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. В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этом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блоке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разбирается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как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запуск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услуги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iptv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влияет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на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общий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результат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команды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.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Отдельный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акцент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сделан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на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связи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между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направлениями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Запуск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услуги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IPTV» и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Развитие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фиксированной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связи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»,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чтобы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показать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логику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принятия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решений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.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Практическая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ценность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подхода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проявляется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в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сценариях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где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критичны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Развитие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фиксированной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связи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» и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Приобретение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доли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 в «</a:t>
            </a:r>
            <a:r>
              <a:rPr sz="1500" b="0" dirty="0" err="1">
                <a:solidFill>
                  <a:srgbClr val="000000"/>
                </a:solidFill>
                <a:latin typeface="Segoe UI"/>
              </a:rPr>
              <a:t>ВымпелКоме</a:t>
            </a:r>
            <a:r>
              <a:rPr sz="1500" b="0" dirty="0">
                <a:solidFill>
                  <a:srgbClr val="000000"/>
                </a:solidFill>
                <a:latin typeface="Segoe UI"/>
              </a:rPr>
              <a:t>»».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554480"/>
            <a:ext cx="4967935" cy="48463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3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33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0072C6"/>
                </a:solidFill>
                <a:latin typeface="Segoe UI Semibold"/>
              </a:rPr>
              <a:t>Крупные сделки и приобретения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645919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91640"/>
          <a:ext cx="10911535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7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7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7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354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AF6FA"/>
                          </a:solidFill>
                          <a:latin typeface="Segoe UI"/>
                        </a:rPr>
                        <a:t>Год</a:t>
                      </a:r>
                    </a:p>
                  </a:txBody>
                  <a:tcPr>
                    <a:solidFill>
                      <a:srgbClr val="0072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AF6FA"/>
                          </a:solidFill>
                          <a:latin typeface="Segoe UI"/>
                        </a:rPr>
                        <a:t>Сделка</a:t>
                      </a:r>
                    </a:p>
                  </a:txBody>
                  <a:tcPr>
                    <a:solidFill>
                      <a:srgbClr val="0072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AF6FA"/>
                          </a:solidFill>
                          <a:latin typeface="Segoe UI"/>
                        </a:rPr>
                        <a:t>Сумма</a:t>
                      </a:r>
                    </a:p>
                  </a:txBody>
                  <a:tcPr>
                    <a:solidFill>
                      <a:srgbClr val="0072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AF6FA"/>
                          </a:solidFill>
                          <a:latin typeface="Segoe UI"/>
                        </a:rPr>
                        <a:t>Результат</a:t>
                      </a:r>
                    </a:p>
                  </a:txBody>
                  <a:tcPr>
                    <a:solidFill>
                      <a:srgbClr val="0072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2011</a:t>
                      </a:r>
                    </a:p>
                  </a:txBody>
                  <a:tcPr>
                    <a:solidFill>
                      <a:srgbClr val="EA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Golden Telecom</a:t>
                      </a:r>
                    </a:p>
                  </a:txBody>
                  <a:tcPr>
                    <a:solidFill>
                      <a:srgbClr val="EA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1 млрд $</a:t>
                      </a:r>
                    </a:p>
                  </a:txBody>
                  <a:tcPr>
                    <a:solidFill>
                      <a:srgbClr val="EA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Укрепление позиций</a:t>
                      </a:r>
                    </a:p>
                  </a:txBody>
                  <a:tcPr>
                    <a:solidFill>
                      <a:srgbClr val="EA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2014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«ВымпелКом»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10% акций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Расширение бизнеса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2017</a:t>
                      </a:r>
                    </a:p>
                  </a:txBody>
                  <a:tcPr>
                    <a:solidFill>
                      <a:srgbClr val="EA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RTComm.Ru</a:t>
                      </a:r>
                    </a:p>
                  </a:txBody>
                  <a:tcPr>
                    <a:solidFill>
                      <a:srgbClr val="EA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>
                    <a:solidFill>
                      <a:srgbClr val="EA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Интеграция активов</a:t>
                      </a:r>
                    </a:p>
                  </a:txBody>
                  <a:tcPr>
                    <a:solidFill>
                      <a:srgbClr val="EA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2019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Tele2 Russia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Segoe UI"/>
                        </a:rPr>
                        <a:t>Стратегическое партнерство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573</Words>
  <Application>Microsoft Office PowerPoint</Application>
  <PresentationFormat>Широкоэкранный</PresentationFormat>
  <Paragraphs>65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</vt:lpstr>
      <vt:lpstr>Segoe UI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крах богдан</dc:creator>
  <cp:keywords/>
  <dc:description>generated using python-pptx</dc:description>
  <cp:lastModifiedBy>крах богдан</cp:lastModifiedBy>
  <cp:revision>4</cp:revision>
  <dcterms:created xsi:type="dcterms:W3CDTF">2013-01-27T09:14:16Z</dcterms:created>
  <dcterms:modified xsi:type="dcterms:W3CDTF">2026-04-29T03:08:09Z</dcterms:modified>
  <cp:category/>
</cp:coreProperties>
</file>