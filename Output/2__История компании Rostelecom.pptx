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2" d="100"/>
          <a:sy n="122" d="100"/>
        </p:scale>
        <p:origin x="12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92640" y="320040"/>
            <a:ext cx="2651760" cy="2651760"/>
          </a:xfrm>
          <a:prstGeom prst="ellipse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3840480" cy="128016"/>
          </a:xfrm>
          <a:prstGeom prst="rect">
            <a:avLst/>
          </a:prstGeom>
          <a:solidFill>
            <a:srgbClr val="D1B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1B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1B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545775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5500" b="1">
                <a:solidFill>
                  <a:srgbClr val="A58FAF"/>
                </a:solidFill>
                <a:latin typeface="Candara Bold"/>
              </a:rPr>
              <a:t>История Rostelecom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23360"/>
            <a:ext cx="1054577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0">
                <a:solidFill>
                  <a:srgbClr val="757575"/>
                </a:solidFill>
                <a:latin typeface="Candara"/>
              </a:rPr>
              <a:t>Эволюция телекоммуникаций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320040"/>
            <a:ext cx="1737360" cy="1737360"/>
          </a:xfrm>
          <a:prstGeom prst="ellipse">
            <a:avLst/>
          </a:prstGeom>
          <a:solidFill>
            <a:srgbClr val="EDE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1B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A58FAF"/>
                </a:solidFill>
                <a:latin typeface="Candara Bold"/>
              </a:rPr>
              <a:t>Основание компании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508760" cy="38100"/>
          </a:xfrm>
          <a:prstGeom prst="rect">
            <a:avLst/>
          </a:prstGeom>
          <a:solidFill>
            <a:srgbClr val="D1B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2064" y="1463040"/>
            <a:ext cx="6035040" cy="4956048"/>
          </a:xfrm>
          <a:prstGeom prst="roundRect">
            <a:avLst/>
          </a:prstGeom>
          <a:solidFill>
            <a:srgbClr val="ECEAE6"/>
          </a:solidFill>
          <a:ln w="13970">
            <a:solidFill>
              <a:srgbClr val="EDE7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93408" y="1481328"/>
            <a:ext cx="5114239" cy="4992624"/>
          </a:xfrm>
          <a:prstGeom prst="roundRect">
            <a:avLst/>
          </a:prstGeom>
          <a:solidFill>
            <a:srgbClr val="ECEAE6"/>
          </a:solidFill>
          <a:ln w="13970">
            <a:solidFill>
              <a:srgbClr val="EDE7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585216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dirty="0">
                <a:solidFill>
                  <a:srgbClr val="D1BFD6"/>
                </a:solidFill>
                <a:latin typeface="Candara"/>
              </a:rPr>
              <a:t>●  </a:t>
            </a:r>
            <a:r>
              <a:rPr sz="2000" dirty="0" err="1">
                <a:solidFill>
                  <a:srgbClr val="3C3C3C"/>
                </a:solidFill>
                <a:latin typeface="Candara"/>
              </a:rPr>
              <a:t>Создана</a:t>
            </a:r>
            <a:r>
              <a:rPr sz="2000" dirty="0">
                <a:solidFill>
                  <a:srgbClr val="3C3C3C"/>
                </a:solidFill>
                <a:latin typeface="Candara"/>
              </a:rPr>
              <a:t> в 1992 </a:t>
            </a:r>
            <a:r>
              <a:rPr sz="2000" dirty="0" err="1">
                <a:solidFill>
                  <a:srgbClr val="3C3C3C"/>
                </a:solidFill>
                <a:latin typeface="Candara"/>
              </a:rPr>
              <a:t>году</a:t>
            </a:r>
            <a:endParaRPr sz="2000" dirty="0">
              <a:solidFill>
                <a:srgbClr val="3C3C3C"/>
              </a:solidFill>
              <a:latin typeface="Candara"/>
            </a:endParaRPr>
          </a:p>
          <a:p>
            <a:pPr algn="l">
              <a:spcAft>
                <a:spcPts val="800"/>
              </a:spcAft>
            </a:pPr>
            <a:r>
              <a:rPr sz="2000" b="1" dirty="0">
                <a:solidFill>
                  <a:srgbClr val="D1BFD6"/>
                </a:solidFill>
                <a:latin typeface="Candara"/>
              </a:rPr>
              <a:t>●  </a:t>
            </a:r>
            <a:r>
              <a:rPr sz="2000" dirty="0" err="1">
                <a:solidFill>
                  <a:srgbClr val="3C3C3C"/>
                </a:solidFill>
                <a:latin typeface="Candara"/>
              </a:rPr>
              <a:t>Первая</a:t>
            </a:r>
            <a:r>
              <a:rPr sz="2000" dirty="0">
                <a:solidFill>
                  <a:srgbClr val="3C3C3C"/>
                </a:solidFill>
                <a:latin typeface="Candara"/>
              </a:rPr>
              <a:t> </a:t>
            </a:r>
            <a:r>
              <a:rPr sz="2000" dirty="0" err="1">
                <a:solidFill>
                  <a:srgbClr val="3C3C3C"/>
                </a:solidFill>
                <a:latin typeface="Candara"/>
              </a:rPr>
              <a:t>крупная</a:t>
            </a:r>
            <a:r>
              <a:rPr sz="2000" dirty="0">
                <a:solidFill>
                  <a:srgbClr val="3C3C3C"/>
                </a:solidFill>
                <a:latin typeface="Candara"/>
              </a:rPr>
              <a:t> </a:t>
            </a:r>
            <a:r>
              <a:rPr sz="2000" dirty="0" err="1">
                <a:solidFill>
                  <a:srgbClr val="3C3C3C"/>
                </a:solidFill>
                <a:latin typeface="Candara"/>
              </a:rPr>
              <a:t>телеком-компания</a:t>
            </a:r>
            <a:endParaRPr sz="2000" dirty="0">
              <a:solidFill>
                <a:srgbClr val="3C3C3C"/>
              </a:solidFill>
              <a:latin typeface="Candara"/>
            </a:endParaRPr>
          </a:p>
          <a:p>
            <a:pPr algn="l">
              <a:spcAft>
                <a:spcPts val="800"/>
              </a:spcAft>
            </a:pPr>
            <a:r>
              <a:rPr sz="2000" b="1" dirty="0">
                <a:solidFill>
                  <a:srgbClr val="D1BFD6"/>
                </a:solidFill>
                <a:latin typeface="Candara"/>
              </a:rPr>
              <a:t>●  </a:t>
            </a:r>
            <a:r>
              <a:rPr sz="2000" dirty="0" err="1">
                <a:solidFill>
                  <a:srgbClr val="3C3C3C"/>
                </a:solidFill>
                <a:latin typeface="Candara"/>
              </a:rPr>
              <a:t>Государственная</a:t>
            </a:r>
            <a:r>
              <a:rPr sz="2000" dirty="0">
                <a:solidFill>
                  <a:srgbClr val="3C3C3C"/>
                </a:solidFill>
                <a:latin typeface="Candara"/>
              </a:rPr>
              <a:t> </a:t>
            </a:r>
            <a:r>
              <a:rPr sz="2000" dirty="0" err="1">
                <a:solidFill>
                  <a:srgbClr val="3C3C3C"/>
                </a:solidFill>
                <a:latin typeface="Candara"/>
              </a:rPr>
              <a:t>собственность</a:t>
            </a:r>
            <a:endParaRPr sz="2000" dirty="0">
              <a:solidFill>
                <a:srgbClr val="3C3C3C"/>
              </a:solidFill>
              <a:latin typeface="Candar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320040"/>
            <a:ext cx="1737360" cy="1737360"/>
          </a:xfrm>
          <a:prstGeom prst="ellipse">
            <a:avLst/>
          </a:prstGeom>
          <a:solidFill>
            <a:srgbClr val="EDE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1B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A58FAF"/>
                </a:solidFill>
                <a:latin typeface="Candara Bold"/>
              </a:rPr>
              <a:t>Расширение сети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508760" cy="38100"/>
          </a:xfrm>
          <a:prstGeom prst="rect">
            <a:avLst/>
          </a:prstGeom>
          <a:solidFill>
            <a:srgbClr val="D1B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2064" y="1463040"/>
            <a:ext cx="6035040" cy="4956048"/>
          </a:xfrm>
          <a:prstGeom prst="roundRect">
            <a:avLst/>
          </a:prstGeom>
          <a:solidFill>
            <a:srgbClr val="ECEAE6"/>
          </a:solidFill>
          <a:ln w="13970">
            <a:solidFill>
              <a:srgbClr val="EDE7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93408" y="1481328"/>
            <a:ext cx="5114239" cy="4992624"/>
          </a:xfrm>
          <a:prstGeom prst="roundRect">
            <a:avLst/>
          </a:prstGeom>
          <a:solidFill>
            <a:srgbClr val="ECEAE6"/>
          </a:solidFill>
          <a:ln w="13970">
            <a:solidFill>
              <a:srgbClr val="EDE7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85216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dirty="0">
                <a:solidFill>
                  <a:srgbClr val="D1BFD6"/>
                </a:solidFill>
                <a:latin typeface="Candara"/>
              </a:rPr>
              <a:t>●  </a:t>
            </a:r>
            <a:r>
              <a:rPr sz="2000" dirty="0" err="1">
                <a:solidFill>
                  <a:srgbClr val="3C3C3C"/>
                </a:solidFill>
                <a:latin typeface="Candara"/>
              </a:rPr>
              <a:t>Развитие</a:t>
            </a:r>
            <a:r>
              <a:rPr sz="2000" dirty="0">
                <a:solidFill>
                  <a:srgbClr val="3C3C3C"/>
                </a:solidFill>
                <a:latin typeface="Candara"/>
              </a:rPr>
              <a:t> </a:t>
            </a:r>
            <a:r>
              <a:rPr sz="2000" dirty="0" err="1">
                <a:solidFill>
                  <a:srgbClr val="3C3C3C"/>
                </a:solidFill>
                <a:latin typeface="Candara"/>
              </a:rPr>
              <a:t>фиксированной</a:t>
            </a:r>
            <a:r>
              <a:rPr sz="2000" dirty="0">
                <a:solidFill>
                  <a:srgbClr val="3C3C3C"/>
                </a:solidFill>
                <a:latin typeface="Candara"/>
              </a:rPr>
              <a:t> </a:t>
            </a:r>
            <a:r>
              <a:rPr sz="2000" dirty="0" err="1">
                <a:solidFill>
                  <a:srgbClr val="3C3C3C"/>
                </a:solidFill>
                <a:latin typeface="Candara"/>
              </a:rPr>
              <a:t>связи</a:t>
            </a:r>
            <a:endParaRPr sz="2000" dirty="0">
              <a:solidFill>
                <a:srgbClr val="3C3C3C"/>
              </a:solidFill>
              <a:latin typeface="Candara"/>
            </a:endParaRPr>
          </a:p>
          <a:p>
            <a:pPr algn="l">
              <a:spcAft>
                <a:spcPts val="800"/>
              </a:spcAft>
            </a:pPr>
            <a:r>
              <a:rPr sz="2000" b="1" dirty="0">
                <a:solidFill>
                  <a:srgbClr val="D1BFD6"/>
                </a:solidFill>
                <a:latin typeface="Candara"/>
              </a:rPr>
              <a:t>●  </a:t>
            </a:r>
            <a:r>
              <a:rPr sz="2000" dirty="0" err="1">
                <a:solidFill>
                  <a:srgbClr val="3C3C3C"/>
                </a:solidFill>
                <a:latin typeface="Candara"/>
              </a:rPr>
              <a:t>Подключение</a:t>
            </a:r>
            <a:r>
              <a:rPr sz="2000" dirty="0">
                <a:solidFill>
                  <a:srgbClr val="3C3C3C"/>
                </a:solidFill>
                <a:latin typeface="Candara"/>
              </a:rPr>
              <a:t> </a:t>
            </a:r>
            <a:r>
              <a:rPr sz="2000" dirty="0" err="1">
                <a:solidFill>
                  <a:srgbClr val="3C3C3C"/>
                </a:solidFill>
                <a:latin typeface="Candara"/>
              </a:rPr>
              <a:t>регионов</a:t>
            </a:r>
            <a:endParaRPr sz="2000" dirty="0">
              <a:solidFill>
                <a:srgbClr val="3C3C3C"/>
              </a:solidFill>
              <a:latin typeface="Candara"/>
            </a:endParaRPr>
          </a:p>
          <a:p>
            <a:pPr algn="l">
              <a:spcAft>
                <a:spcPts val="800"/>
              </a:spcAft>
            </a:pPr>
            <a:r>
              <a:rPr sz="2000" b="1" dirty="0">
                <a:solidFill>
                  <a:srgbClr val="D1BFD6"/>
                </a:solidFill>
                <a:latin typeface="Candara"/>
              </a:rPr>
              <a:t>●  </a:t>
            </a:r>
            <a:r>
              <a:rPr sz="2000" dirty="0" err="1">
                <a:solidFill>
                  <a:srgbClr val="3C3C3C"/>
                </a:solidFill>
                <a:latin typeface="Candara"/>
              </a:rPr>
              <a:t>Инвестиции</a:t>
            </a:r>
            <a:r>
              <a:rPr sz="2000" dirty="0">
                <a:solidFill>
                  <a:srgbClr val="3C3C3C"/>
                </a:solidFill>
                <a:latin typeface="Candara"/>
              </a:rPr>
              <a:t> в </a:t>
            </a:r>
            <a:r>
              <a:rPr sz="2000" dirty="0" err="1">
                <a:solidFill>
                  <a:srgbClr val="3C3C3C"/>
                </a:solidFill>
                <a:latin typeface="Candara"/>
              </a:rPr>
              <a:t>инфраструктуру</a:t>
            </a:r>
            <a:endParaRPr sz="2000" dirty="0">
              <a:solidFill>
                <a:srgbClr val="3C3C3C"/>
              </a:solidFill>
              <a:latin typeface="Candara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554480"/>
            <a:ext cx="4967935" cy="48463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320040"/>
            <a:ext cx="1737360" cy="1737360"/>
          </a:xfrm>
          <a:prstGeom prst="ellipse">
            <a:avLst/>
          </a:prstGeom>
          <a:solidFill>
            <a:srgbClr val="EDE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1B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A58FAF"/>
                </a:solidFill>
                <a:latin typeface="Candara Bold"/>
              </a:rPr>
              <a:t>Первые услуги интернета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508760" cy="38100"/>
          </a:xfrm>
          <a:prstGeom prst="rect">
            <a:avLst/>
          </a:prstGeom>
          <a:solidFill>
            <a:srgbClr val="D1B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2064" y="1463040"/>
            <a:ext cx="6035040" cy="4956048"/>
          </a:xfrm>
          <a:prstGeom prst="roundRect">
            <a:avLst/>
          </a:prstGeom>
          <a:solidFill>
            <a:srgbClr val="ECEAE6"/>
          </a:solidFill>
          <a:ln w="13970">
            <a:solidFill>
              <a:srgbClr val="EDE7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93408" y="1481328"/>
            <a:ext cx="5114239" cy="4992624"/>
          </a:xfrm>
          <a:prstGeom prst="roundRect">
            <a:avLst/>
          </a:prstGeom>
          <a:solidFill>
            <a:srgbClr val="ECEAE6"/>
          </a:solidFill>
          <a:ln w="13970">
            <a:solidFill>
              <a:srgbClr val="EDE7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0255" y="1917087"/>
            <a:ext cx="585216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dirty="0">
                <a:solidFill>
                  <a:srgbClr val="D1BFD6"/>
                </a:solidFill>
                <a:latin typeface="Candara"/>
              </a:rPr>
              <a:t>●  </a:t>
            </a:r>
            <a:r>
              <a:rPr sz="2000" dirty="0" err="1">
                <a:solidFill>
                  <a:srgbClr val="3C3C3C"/>
                </a:solidFill>
                <a:latin typeface="Candara"/>
              </a:rPr>
              <a:t>Запуск</a:t>
            </a:r>
            <a:r>
              <a:rPr sz="2000" dirty="0">
                <a:solidFill>
                  <a:srgbClr val="3C3C3C"/>
                </a:solidFill>
                <a:latin typeface="Candara"/>
              </a:rPr>
              <a:t> </a:t>
            </a:r>
            <a:r>
              <a:rPr sz="2000" dirty="0" err="1">
                <a:solidFill>
                  <a:srgbClr val="3C3C3C"/>
                </a:solidFill>
                <a:latin typeface="Candara"/>
              </a:rPr>
              <a:t>широкополосного</a:t>
            </a:r>
            <a:r>
              <a:rPr sz="2000" dirty="0">
                <a:solidFill>
                  <a:srgbClr val="3C3C3C"/>
                </a:solidFill>
                <a:latin typeface="Candara"/>
              </a:rPr>
              <a:t> </a:t>
            </a:r>
            <a:r>
              <a:rPr sz="2000" dirty="0" err="1">
                <a:solidFill>
                  <a:srgbClr val="3C3C3C"/>
                </a:solidFill>
                <a:latin typeface="Candara"/>
              </a:rPr>
              <a:t>доступа</a:t>
            </a:r>
            <a:endParaRPr sz="2000" dirty="0">
              <a:solidFill>
                <a:srgbClr val="3C3C3C"/>
              </a:solidFill>
              <a:latin typeface="Candara"/>
            </a:endParaRPr>
          </a:p>
          <a:p>
            <a:pPr algn="l">
              <a:spcAft>
                <a:spcPts val="800"/>
              </a:spcAft>
            </a:pPr>
            <a:r>
              <a:rPr sz="2000" b="1" dirty="0">
                <a:solidFill>
                  <a:srgbClr val="D1BFD6"/>
                </a:solidFill>
                <a:latin typeface="Candara"/>
              </a:rPr>
              <a:t>●  </a:t>
            </a:r>
            <a:r>
              <a:rPr sz="2000" dirty="0" err="1">
                <a:solidFill>
                  <a:srgbClr val="3C3C3C"/>
                </a:solidFill>
                <a:latin typeface="Candara"/>
              </a:rPr>
              <a:t>Развитие</a:t>
            </a:r>
            <a:r>
              <a:rPr sz="2000" dirty="0">
                <a:solidFill>
                  <a:srgbClr val="3C3C3C"/>
                </a:solidFill>
                <a:latin typeface="Candara"/>
              </a:rPr>
              <a:t> Wi-Fi </a:t>
            </a:r>
            <a:r>
              <a:rPr sz="2000" dirty="0" err="1">
                <a:solidFill>
                  <a:srgbClr val="3C3C3C"/>
                </a:solidFill>
                <a:latin typeface="Candara"/>
              </a:rPr>
              <a:t>сетей</a:t>
            </a:r>
            <a:endParaRPr sz="2000" dirty="0">
              <a:solidFill>
                <a:srgbClr val="3C3C3C"/>
              </a:solidFill>
              <a:latin typeface="Candara"/>
            </a:endParaRPr>
          </a:p>
          <a:p>
            <a:pPr algn="l">
              <a:spcAft>
                <a:spcPts val="800"/>
              </a:spcAft>
            </a:pPr>
            <a:r>
              <a:rPr sz="2000" b="1" dirty="0">
                <a:solidFill>
                  <a:srgbClr val="D1BFD6"/>
                </a:solidFill>
                <a:latin typeface="Candara"/>
              </a:rPr>
              <a:t>●  </a:t>
            </a:r>
            <a:r>
              <a:rPr sz="2000" dirty="0" err="1">
                <a:solidFill>
                  <a:srgbClr val="3C3C3C"/>
                </a:solidFill>
                <a:latin typeface="Candara"/>
              </a:rPr>
              <a:t>Подключение</a:t>
            </a:r>
            <a:r>
              <a:rPr sz="2000" dirty="0">
                <a:solidFill>
                  <a:srgbClr val="3C3C3C"/>
                </a:solidFill>
                <a:latin typeface="Candara"/>
              </a:rPr>
              <a:t> </a:t>
            </a:r>
            <a:r>
              <a:rPr sz="2000" dirty="0" err="1">
                <a:solidFill>
                  <a:srgbClr val="3C3C3C"/>
                </a:solidFill>
                <a:latin typeface="Candara"/>
              </a:rPr>
              <a:t>городов</a:t>
            </a:r>
            <a:endParaRPr sz="2000" dirty="0">
              <a:solidFill>
                <a:srgbClr val="3C3C3C"/>
              </a:solidFill>
              <a:latin typeface="Candara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554480"/>
            <a:ext cx="4967935" cy="48463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320040"/>
            <a:ext cx="1737360" cy="1737360"/>
          </a:xfrm>
          <a:prstGeom prst="ellipse">
            <a:avLst/>
          </a:prstGeom>
          <a:solidFill>
            <a:srgbClr val="EDE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1B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A58FAF"/>
                </a:solidFill>
                <a:latin typeface="Candara Bold"/>
              </a:rPr>
              <a:t>Слияния и поглощения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508760" cy="38100"/>
          </a:xfrm>
          <a:prstGeom prst="rect">
            <a:avLst/>
          </a:prstGeom>
          <a:solidFill>
            <a:srgbClr val="D1B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2064" y="1463040"/>
            <a:ext cx="6035040" cy="4956048"/>
          </a:xfrm>
          <a:prstGeom prst="roundRect">
            <a:avLst/>
          </a:prstGeom>
          <a:solidFill>
            <a:srgbClr val="ECEAE6"/>
          </a:solidFill>
          <a:ln w="13970">
            <a:solidFill>
              <a:srgbClr val="EDE7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93408" y="1481328"/>
            <a:ext cx="5114239" cy="4992624"/>
          </a:xfrm>
          <a:prstGeom prst="roundRect">
            <a:avLst/>
          </a:prstGeom>
          <a:solidFill>
            <a:srgbClr val="ECEAE6"/>
          </a:solidFill>
          <a:ln w="13970">
            <a:solidFill>
              <a:srgbClr val="EDE7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0255" y="2011680"/>
            <a:ext cx="585216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dirty="0">
                <a:solidFill>
                  <a:srgbClr val="D1BFD6"/>
                </a:solidFill>
                <a:latin typeface="Candara"/>
              </a:rPr>
              <a:t>●  </a:t>
            </a:r>
            <a:r>
              <a:rPr sz="2000" dirty="0" err="1">
                <a:solidFill>
                  <a:srgbClr val="3C3C3C"/>
                </a:solidFill>
                <a:latin typeface="Candara"/>
              </a:rPr>
              <a:t>Поглощение</a:t>
            </a:r>
            <a:r>
              <a:rPr sz="2000" dirty="0">
                <a:solidFill>
                  <a:srgbClr val="3C3C3C"/>
                </a:solidFill>
                <a:latin typeface="Candara"/>
              </a:rPr>
              <a:t> </a:t>
            </a:r>
            <a:r>
              <a:rPr sz="2000" dirty="0" err="1">
                <a:solidFill>
                  <a:srgbClr val="3C3C3C"/>
                </a:solidFill>
                <a:latin typeface="Candara"/>
              </a:rPr>
              <a:t>местных</a:t>
            </a:r>
            <a:r>
              <a:rPr sz="2000" dirty="0">
                <a:solidFill>
                  <a:srgbClr val="3C3C3C"/>
                </a:solidFill>
                <a:latin typeface="Candara"/>
              </a:rPr>
              <a:t> </a:t>
            </a:r>
            <a:r>
              <a:rPr sz="2000" dirty="0" err="1">
                <a:solidFill>
                  <a:srgbClr val="3C3C3C"/>
                </a:solidFill>
                <a:latin typeface="Candara"/>
              </a:rPr>
              <a:t>провайдеров</a:t>
            </a:r>
            <a:endParaRPr sz="2000" dirty="0">
              <a:solidFill>
                <a:srgbClr val="3C3C3C"/>
              </a:solidFill>
              <a:latin typeface="Candara"/>
            </a:endParaRPr>
          </a:p>
          <a:p>
            <a:pPr algn="l">
              <a:spcAft>
                <a:spcPts val="800"/>
              </a:spcAft>
            </a:pPr>
            <a:r>
              <a:rPr sz="2000" b="1" dirty="0">
                <a:solidFill>
                  <a:srgbClr val="D1BFD6"/>
                </a:solidFill>
                <a:latin typeface="Candara"/>
              </a:rPr>
              <a:t>●  </a:t>
            </a:r>
            <a:r>
              <a:rPr sz="2000" dirty="0" err="1">
                <a:solidFill>
                  <a:srgbClr val="3C3C3C"/>
                </a:solidFill>
                <a:latin typeface="Candara"/>
              </a:rPr>
              <a:t>Слияние</a:t>
            </a:r>
            <a:r>
              <a:rPr sz="2000" dirty="0">
                <a:solidFill>
                  <a:srgbClr val="3C3C3C"/>
                </a:solidFill>
                <a:latin typeface="Candara"/>
              </a:rPr>
              <a:t> с </a:t>
            </a:r>
            <a:r>
              <a:rPr sz="2000" dirty="0" err="1">
                <a:solidFill>
                  <a:srgbClr val="3C3C3C"/>
                </a:solidFill>
                <a:latin typeface="Candara"/>
              </a:rPr>
              <a:t>Comcor</a:t>
            </a:r>
            <a:endParaRPr sz="2000" dirty="0">
              <a:solidFill>
                <a:srgbClr val="3C3C3C"/>
              </a:solidFill>
              <a:latin typeface="Candara"/>
            </a:endParaRPr>
          </a:p>
          <a:p>
            <a:pPr algn="l">
              <a:spcAft>
                <a:spcPts val="800"/>
              </a:spcAft>
            </a:pPr>
            <a:r>
              <a:rPr sz="2000" b="1" dirty="0">
                <a:solidFill>
                  <a:srgbClr val="D1BFD6"/>
                </a:solidFill>
                <a:latin typeface="Candara"/>
              </a:rPr>
              <a:t>●  </a:t>
            </a:r>
            <a:r>
              <a:rPr sz="2000" dirty="0" err="1">
                <a:solidFill>
                  <a:srgbClr val="3C3C3C"/>
                </a:solidFill>
                <a:latin typeface="Candara"/>
              </a:rPr>
              <a:t>Укрепление</a:t>
            </a:r>
            <a:r>
              <a:rPr sz="2000" dirty="0">
                <a:solidFill>
                  <a:srgbClr val="3C3C3C"/>
                </a:solidFill>
                <a:latin typeface="Candara"/>
              </a:rPr>
              <a:t> </a:t>
            </a:r>
            <a:r>
              <a:rPr sz="2000" dirty="0" err="1">
                <a:solidFill>
                  <a:srgbClr val="3C3C3C"/>
                </a:solidFill>
                <a:latin typeface="Candara"/>
              </a:rPr>
              <a:t>позиций</a:t>
            </a:r>
            <a:endParaRPr sz="2000" dirty="0">
              <a:solidFill>
                <a:srgbClr val="3C3C3C"/>
              </a:solidFill>
              <a:latin typeface="Candara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554480"/>
            <a:ext cx="4967935" cy="48463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58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800" b="1">
                <a:solidFill>
                  <a:srgbClr val="FDFCFB"/>
                </a:solidFill>
                <a:latin typeface="Candara Bold"/>
              </a:rPr>
              <a:t>Цифровизация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0">
                <a:solidFill>
                  <a:srgbClr val="D1BFD6"/>
                </a:solidFill>
                <a:latin typeface="Candara"/>
              </a:rPr>
              <a:t>2010-е годы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320040"/>
            <a:ext cx="1737360" cy="1737360"/>
          </a:xfrm>
          <a:prstGeom prst="ellipse">
            <a:avLst/>
          </a:prstGeom>
          <a:solidFill>
            <a:srgbClr val="EDE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1B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A58FAF"/>
                </a:solidFill>
                <a:latin typeface="Candara Bold"/>
              </a:rPr>
              <a:t>Развитие цифровых услуг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508760" cy="38100"/>
          </a:xfrm>
          <a:prstGeom prst="rect">
            <a:avLst/>
          </a:prstGeom>
          <a:solidFill>
            <a:srgbClr val="D1B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2064" y="1463040"/>
            <a:ext cx="6035040" cy="4956048"/>
          </a:xfrm>
          <a:prstGeom prst="roundRect">
            <a:avLst/>
          </a:prstGeom>
          <a:solidFill>
            <a:srgbClr val="ECEAE6"/>
          </a:solidFill>
          <a:ln w="13970">
            <a:solidFill>
              <a:srgbClr val="EDE7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93408" y="1481328"/>
            <a:ext cx="5114239" cy="4992624"/>
          </a:xfrm>
          <a:prstGeom prst="roundRect">
            <a:avLst/>
          </a:prstGeom>
          <a:solidFill>
            <a:srgbClr val="ECEAE6"/>
          </a:solidFill>
          <a:ln w="13970">
            <a:solidFill>
              <a:srgbClr val="EDE7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" y="2010898"/>
            <a:ext cx="585216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dirty="0">
                <a:solidFill>
                  <a:srgbClr val="D1BFD6"/>
                </a:solidFill>
                <a:latin typeface="Candara"/>
              </a:rPr>
              <a:t>●  </a:t>
            </a:r>
            <a:r>
              <a:rPr sz="2000" dirty="0" err="1">
                <a:solidFill>
                  <a:srgbClr val="3C3C3C"/>
                </a:solidFill>
                <a:latin typeface="Candara"/>
              </a:rPr>
              <a:t>Запуск</a:t>
            </a:r>
            <a:r>
              <a:rPr sz="2000" dirty="0">
                <a:solidFill>
                  <a:srgbClr val="3C3C3C"/>
                </a:solidFill>
                <a:latin typeface="Candara"/>
              </a:rPr>
              <a:t> IPTV</a:t>
            </a:r>
          </a:p>
          <a:p>
            <a:pPr algn="l">
              <a:spcAft>
                <a:spcPts val="800"/>
              </a:spcAft>
            </a:pPr>
            <a:r>
              <a:rPr sz="2000" b="1" dirty="0">
                <a:solidFill>
                  <a:srgbClr val="D1BFD6"/>
                </a:solidFill>
                <a:latin typeface="Candara"/>
              </a:rPr>
              <a:t>●  </a:t>
            </a:r>
            <a:r>
              <a:rPr sz="2000" dirty="0" err="1">
                <a:solidFill>
                  <a:srgbClr val="3C3C3C"/>
                </a:solidFill>
                <a:latin typeface="Candara"/>
              </a:rPr>
              <a:t>Облачные</a:t>
            </a:r>
            <a:r>
              <a:rPr sz="2000" dirty="0">
                <a:solidFill>
                  <a:srgbClr val="3C3C3C"/>
                </a:solidFill>
                <a:latin typeface="Candara"/>
              </a:rPr>
              <a:t> </a:t>
            </a:r>
            <a:r>
              <a:rPr sz="2000" dirty="0" err="1">
                <a:solidFill>
                  <a:srgbClr val="3C3C3C"/>
                </a:solidFill>
                <a:latin typeface="Candara"/>
              </a:rPr>
              <a:t>технологии</a:t>
            </a:r>
            <a:endParaRPr sz="2000" dirty="0">
              <a:solidFill>
                <a:srgbClr val="3C3C3C"/>
              </a:solidFill>
              <a:latin typeface="Candara"/>
            </a:endParaRPr>
          </a:p>
          <a:p>
            <a:pPr algn="l">
              <a:spcAft>
                <a:spcPts val="800"/>
              </a:spcAft>
            </a:pPr>
            <a:r>
              <a:rPr sz="2000" b="1" dirty="0">
                <a:solidFill>
                  <a:srgbClr val="D1BFD6"/>
                </a:solidFill>
                <a:latin typeface="Candara"/>
              </a:rPr>
              <a:t>●  </a:t>
            </a:r>
            <a:r>
              <a:rPr sz="2000" dirty="0" err="1">
                <a:solidFill>
                  <a:srgbClr val="3C3C3C"/>
                </a:solidFill>
                <a:latin typeface="Candara"/>
              </a:rPr>
              <a:t>Мобильные</a:t>
            </a:r>
            <a:r>
              <a:rPr sz="2000" dirty="0">
                <a:solidFill>
                  <a:srgbClr val="3C3C3C"/>
                </a:solidFill>
                <a:latin typeface="Candara"/>
              </a:rPr>
              <a:t> </a:t>
            </a:r>
            <a:r>
              <a:rPr sz="2000" dirty="0" err="1">
                <a:solidFill>
                  <a:srgbClr val="3C3C3C"/>
                </a:solidFill>
                <a:latin typeface="Candara"/>
              </a:rPr>
              <a:t>приложения</a:t>
            </a:r>
            <a:endParaRPr sz="2000" dirty="0">
              <a:solidFill>
                <a:srgbClr val="3C3C3C"/>
              </a:solidFill>
              <a:latin typeface="Candara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554480"/>
            <a:ext cx="4967935" cy="48463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320040"/>
            <a:ext cx="1737360" cy="1737360"/>
          </a:xfrm>
          <a:prstGeom prst="ellipse">
            <a:avLst/>
          </a:prstGeom>
          <a:solidFill>
            <a:srgbClr val="EDE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1B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A58FAF"/>
                </a:solidFill>
                <a:latin typeface="Candara Bold"/>
              </a:rPr>
              <a:t>Ключевые показатели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508760" cy="38100"/>
          </a:xfrm>
          <a:prstGeom prst="rect">
            <a:avLst/>
          </a:prstGeom>
          <a:solidFill>
            <a:srgbClr val="D1B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757575"/>
                </a:solidFill>
                <a:latin typeface="Candara"/>
              </a:rPr>
              <a:t>2010-2020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011680"/>
          <a:ext cx="10911535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71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7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744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DFCFB"/>
                          </a:solidFill>
                          <a:latin typeface="Candara"/>
                        </a:rPr>
                        <a:t>Год</a:t>
                      </a:r>
                    </a:p>
                  </a:txBody>
                  <a:tcPr>
                    <a:solidFill>
                      <a:srgbClr val="A58FA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DFCFB"/>
                          </a:solidFill>
                          <a:latin typeface="Candara"/>
                        </a:rPr>
                        <a:t>Выручка</a:t>
                      </a:r>
                    </a:p>
                  </a:txBody>
                  <a:tcPr>
                    <a:solidFill>
                      <a:srgbClr val="A58FA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DFCFB"/>
                          </a:solidFill>
                          <a:latin typeface="Candara"/>
                        </a:rPr>
                        <a:t>Клиенты</a:t>
                      </a:r>
                    </a:p>
                  </a:txBody>
                  <a:tcPr>
                    <a:solidFill>
                      <a:srgbClr val="A58F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44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C3C3C"/>
                          </a:solidFill>
                          <a:latin typeface="Candara"/>
                        </a:rPr>
                        <a:t>2010</a:t>
                      </a:r>
                    </a:p>
                  </a:txBody>
                  <a:tcPr>
                    <a:solidFill>
                      <a:srgbClr val="FD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C3C3C"/>
                          </a:solidFill>
                          <a:latin typeface="Candara"/>
                        </a:rPr>
                        <a:t>235 млрд руб.</a:t>
                      </a:r>
                    </a:p>
                  </a:txBody>
                  <a:tcPr>
                    <a:solidFill>
                      <a:srgbClr val="FD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C3C3C"/>
                          </a:solidFill>
                          <a:latin typeface="Candara"/>
                        </a:rPr>
                        <a:t>25 млн</a:t>
                      </a:r>
                    </a:p>
                  </a:txBody>
                  <a:tcPr>
                    <a:solidFill>
                      <a:srgbClr val="FD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44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C3C3C"/>
                          </a:solidFill>
                          <a:latin typeface="Candara"/>
                        </a:rPr>
                        <a:t>2015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C3C3C"/>
                          </a:solidFill>
                          <a:latin typeface="Candara"/>
                        </a:rPr>
                        <a:t>340 млрд руб.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C3C3C"/>
                          </a:solidFill>
                          <a:latin typeface="Candara"/>
                        </a:rPr>
                        <a:t>40 млн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44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C3C3C"/>
                          </a:solidFill>
                          <a:latin typeface="Candara"/>
                        </a:rPr>
                        <a:t>2020</a:t>
                      </a:r>
                    </a:p>
                  </a:txBody>
                  <a:tcPr>
                    <a:solidFill>
                      <a:srgbClr val="FD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C3C3C"/>
                          </a:solidFill>
                          <a:latin typeface="Candara"/>
                        </a:rPr>
                        <a:t>450 млрд руб.</a:t>
                      </a:r>
                    </a:p>
                  </a:txBody>
                  <a:tcPr>
                    <a:solidFill>
                      <a:srgbClr val="FD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C3C3C"/>
                          </a:solidFill>
                          <a:latin typeface="Candara"/>
                        </a:rPr>
                        <a:t>50 млн</a:t>
                      </a:r>
                    </a:p>
                  </a:txBody>
                  <a:tcPr>
                    <a:solidFill>
                      <a:srgbClr val="FD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320040"/>
            <a:ext cx="1737360" cy="1737360"/>
          </a:xfrm>
          <a:prstGeom prst="ellipse">
            <a:avLst/>
          </a:prstGeom>
          <a:solidFill>
            <a:srgbClr val="EDE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1B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A58FAF"/>
                </a:solidFill>
                <a:latin typeface="Candara Bold"/>
              </a:rPr>
              <a:t>Инновационные проекты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508760" cy="38100"/>
          </a:xfrm>
          <a:prstGeom prst="rect">
            <a:avLst/>
          </a:prstGeom>
          <a:solidFill>
            <a:srgbClr val="D1B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2064" y="1463040"/>
            <a:ext cx="6035040" cy="4956048"/>
          </a:xfrm>
          <a:prstGeom prst="roundRect">
            <a:avLst/>
          </a:prstGeom>
          <a:solidFill>
            <a:srgbClr val="ECEAE6"/>
          </a:solidFill>
          <a:ln w="13970">
            <a:solidFill>
              <a:srgbClr val="EDE7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93408" y="1481328"/>
            <a:ext cx="5114239" cy="4992624"/>
          </a:xfrm>
          <a:prstGeom prst="roundRect">
            <a:avLst/>
          </a:prstGeom>
          <a:solidFill>
            <a:srgbClr val="ECEAE6"/>
          </a:solidFill>
          <a:ln w="13970">
            <a:solidFill>
              <a:srgbClr val="EDE7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898357"/>
            <a:ext cx="585216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dirty="0">
                <a:solidFill>
                  <a:srgbClr val="D1BFD6"/>
                </a:solidFill>
                <a:latin typeface="Candara"/>
              </a:rPr>
              <a:t>●  </a:t>
            </a:r>
            <a:r>
              <a:rPr sz="2000" dirty="0" err="1">
                <a:solidFill>
                  <a:srgbClr val="3C3C3C"/>
                </a:solidFill>
                <a:latin typeface="Candara"/>
              </a:rPr>
              <a:t>Развитие</a:t>
            </a:r>
            <a:r>
              <a:rPr sz="2000" dirty="0">
                <a:solidFill>
                  <a:srgbClr val="3C3C3C"/>
                </a:solidFill>
                <a:latin typeface="Candara"/>
              </a:rPr>
              <a:t> 5G</a:t>
            </a:r>
          </a:p>
          <a:p>
            <a:pPr algn="l">
              <a:spcAft>
                <a:spcPts val="800"/>
              </a:spcAft>
            </a:pPr>
            <a:r>
              <a:rPr sz="2000" b="1" dirty="0">
                <a:solidFill>
                  <a:srgbClr val="D1BFD6"/>
                </a:solidFill>
                <a:latin typeface="Candara"/>
              </a:rPr>
              <a:t>●  </a:t>
            </a:r>
            <a:r>
              <a:rPr sz="2000" dirty="0" err="1">
                <a:solidFill>
                  <a:srgbClr val="3C3C3C"/>
                </a:solidFill>
                <a:latin typeface="Candara"/>
              </a:rPr>
              <a:t>Искусственный</a:t>
            </a:r>
            <a:r>
              <a:rPr sz="2000" dirty="0">
                <a:solidFill>
                  <a:srgbClr val="3C3C3C"/>
                </a:solidFill>
                <a:latin typeface="Candara"/>
              </a:rPr>
              <a:t> </a:t>
            </a:r>
            <a:r>
              <a:rPr sz="2000" dirty="0" err="1">
                <a:solidFill>
                  <a:srgbClr val="3C3C3C"/>
                </a:solidFill>
                <a:latin typeface="Candara"/>
              </a:rPr>
              <a:t>интеллект</a:t>
            </a:r>
            <a:endParaRPr sz="2000" dirty="0">
              <a:solidFill>
                <a:srgbClr val="3C3C3C"/>
              </a:solidFill>
              <a:latin typeface="Candara"/>
            </a:endParaRPr>
          </a:p>
          <a:p>
            <a:pPr algn="l">
              <a:spcAft>
                <a:spcPts val="800"/>
              </a:spcAft>
            </a:pPr>
            <a:r>
              <a:rPr sz="2000" b="1" dirty="0">
                <a:solidFill>
                  <a:srgbClr val="D1BFD6"/>
                </a:solidFill>
                <a:latin typeface="Candara"/>
              </a:rPr>
              <a:t>●  </a:t>
            </a:r>
            <a:r>
              <a:rPr sz="2000" dirty="0" err="1">
                <a:solidFill>
                  <a:srgbClr val="3C3C3C"/>
                </a:solidFill>
                <a:latin typeface="Candara"/>
              </a:rPr>
              <a:t>Умные</a:t>
            </a:r>
            <a:r>
              <a:rPr sz="2000" dirty="0">
                <a:solidFill>
                  <a:srgbClr val="3C3C3C"/>
                </a:solidFill>
                <a:latin typeface="Candara"/>
              </a:rPr>
              <a:t> </a:t>
            </a:r>
            <a:r>
              <a:rPr sz="2000" dirty="0" err="1">
                <a:solidFill>
                  <a:srgbClr val="3C3C3C"/>
                </a:solidFill>
                <a:latin typeface="Candara"/>
              </a:rPr>
              <a:t>города</a:t>
            </a:r>
            <a:endParaRPr sz="2000" dirty="0">
              <a:solidFill>
                <a:srgbClr val="3C3C3C"/>
              </a:solidFill>
              <a:latin typeface="Candara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554480"/>
            <a:ext cx="4967935" cy="48463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1B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058400" y="411480"/>
            <a:ext cx="1463040" cy="1463040"/>
          </a:xfrm>
          <a:prstGeom prst="ellipse">
            <a:avLst/>
          </a:prstGeom>
          <a:solidFill>
            <a:srgbClr val="EDE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68680" y="2057400"/>
            <a:ext cx="10454335" cy="3977639"/>
          </a:xfrm>
          <a:prstGeom prst="roundRect">
            <a:avLst/>
          </a:prstGeom>
          <a:solidFill>
            <a:srgbClr val="ECEAE6"/>
          </a:solidFill>
          <a:ln w="13970">
            <a:solidFill>
              <a:srgbClr val="EDE7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1054577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000" b="1">
                <a:solidFill>
                  <a:srgbClr val="A58FAF"/>
                </a:solidFill>
                <a:latin typeface="Candara Bold"/>
              </a:rPr>
              <a:t>Перспективы Rostelecom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96312"/>
            <a:ext cx="9448495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dirty="0">
                <a:solidFill>
                  <a:srgbClr val="D1BFD6"/>
                </a:solidFill>
                <a:latin typeface="Candara"/>
              </a:rPr>
              <a:t>●  </a:t>
            </a:r>
            <a:r>
              <a:rPr sz="2200" dirty="0" err="1">
                <a:solidFill>
                  <a:srgbClr val="3C3C3C"/>
                </a:solidFill>
                <a:latin typeface="Candara"/>
              </a:rPr>
              <a:t>Продолжение</a:t>
            </a:r>
            <a:r>
              <a:rPr sz="2200" dirty="0">
                <a:solidFill>
                  <a:srgbClr val="3C3C3C"/>
                </a:solidFill>
                <a:latin typeface="Candara"/>
              </a:rPr>
              <a:t> </a:t>
            </a:r>
            <a:r>
              <a:rPr sz="2200" dirty="0" err="1">
                <a:solidFill>
                  <a:srgbClr val="3C3C3C"/>
                </a:solidFill>
                <a:latin typeface="Candara"/>
              </a:rPr>
              <a:t>цифровизации</a:t>
            </a:r>
            <a:endParaRPr sz="2200" dirty="0">
              <a:solidFill>
                <a:srgbClr val="3C3C3C"/>
              </a:solidFill>
              <a:latin typeface="Candara"/>
            </a:endParaRPr>
          </a:p>
          <a:p>
            <a:pPr algn="l">
              <a:spcAft>
                <a:spcPts val="800"/>
              </a:spcAft>
            </a:pPr>
            <a:r>
              <a:rPr sz="2200" b="1" dirty="0">
                <a:solidFill>
                  <a:srgbClr val="D1BFD6"/>
                </a:solidFill>
                <a:latin typeface="Candara"/>
              </a:rPr>
              <a:t>●  </a:t>
            </a:r>
            <a:r>
              <a:rPr sz="2200" dirty="0" err="1">
                <a:solidFill>
                  <a:srgbClr val="3C3C3C"/>
                </a:solidFill>
                <a:latin typeface="Candara"/>
              </a:rPr>
              <a:t>Инновации</a:t>
            </a:r>
            <a:r>
              <a:rPr sz="2200" dirty="0">
                <a:solidFill>
                  <a:srgbClr val="3C3C3C"/>
                </a:solidFill>
                <a:latin typeface="Candara"/>
              </a:rPr>
              <a:t> и </a:t>
            </a:r>
            <a:r>
              <a:rPr sz="2200" dirty="0" err="1">
                <a:solidFill>
                  <a:srgbClr val="3C3C3C"/>
                </a:solidFill>
                <a:latin typeface="Candara"/>
              </a:rPr>
              <a:t>технологии</a:t>
            </a:r>
            <a:endParaRPr sz="2200" dirty="0">
              <a:solidFill>
                <a:srgbClr val="3C3C3C"/>
              </a:solidFill>
              <a:latin typeface="Candara"/>
            </a:endParaRPr>
          </a:p>
          <a:p>
            <a:pPr algn="l">
              <a:spcAft>
                <a:spcPts val="800"/>
              </a:spcAft>
            </a:pPr>
            <a:r>
              <a:rPr sz="2200" b="1" dirty="0">
                <a:solidFill>
                  <a:srgbClr val="D1BFD6"/>
                </a:solidFill>
                <a:latin typeface="Candara"/>
              </a:rPr>
              <a:t>●  </a:t>
            </a:r>
            <a:r>
              <a:rPr sz="2200" dirty="0" err="1">
                <a:solidFill>
                  <a:srgbClr val="3C3C3C"/>
                </a:solidFill>
                <a:latin typeface="Candara"/>
              </a:rPr>
              <a:t>Развитие</a:t>
            </a:r>
            <a:r>
              <a:rPr sz="2200" dirty="0">
                <a:solidFill>
                  <a:srgbClr val="3C3C3C"/>
                </a:solidFill>
                <a:latin typeface="Candara"/>
              </a:rPr>
              <a:t> </a:t>
            </a:r>
            <a:r>
              <a:rPr sz="2200" dirty="0" err="1">
                <a:solidFill>
                  <a:srgbClr val="3C3C3C"/>
                </a:solidFill>
                <a:latin typeface="Candara"/>
              </a:rPr>
              <a:t>сети</a:t>
            </a:r>
            <a:endParaRPr sz="2200" dirty="0">
              <a:solidFill>
                <a:srgbClr val="3C3C3C"/>
              </a:solidFill>
              <a:latin typeface="Candar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6199631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0" dirty="0" err="1">
                <a:solidFill>
                  <a:srgbClr val="757575"/>
                </a:solidFill>
                <a:latin typeface="Candara"/>
              </a:rPr>
              <a:t>Будущее</a:t>
            </a:r>
            <a:r>
              <a:rPr sz="1800" b="0" dirty="0">
                <a:solidFill>
                  <a:srgbClr val="757575"/>
                </a:solidFill>
                <a:latin typeface="Candara"/>
              </a:rPr>
              <a:t> </a:t>
            </a:r>
            <a:r>
              <a:rPr sz="1800" b="0" dirty="0" err="1">
                <a:solidFill>
                  <a:srgbClr val="757575"/>
                </a:solidFill>
                <a:latin typeface="Candara"/>
              </a:rPr>
              <a:t>телекоммуникаций</a:t>
            </a:r>
            <a:endParaRPr sz="1800" b="0" dirty="0">
              <a:solidFill>
                <a:srgbClr val="757575"/>
              </a:solidFill>
              <a:latin typeface="Candar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126</Words>
  <Application>Microsoft Office PowerPoint</Application>
  <PresentationFormat>Широкоэкранный</PresentationFormat>
  <Paragraphs>47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Candara</vt:lpstr>
      <vt:lpstr>Candara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крах богдан</dc:creator>
  <cp:keywords/>
  <dc:description>generated using python-pptx</dc:description>
  <cp:lastModifiedBy>крах богдан</cp:lastModifiedBy>
  <cp:revision>3</cp:revision>
  <dcterms:created xsi:type="dcterms:W3CDTF">2013-01-27T09:14:16Z</dcterms:created>
  <dcterms:modified xsi:type="dcterms:W3CDTF">2026-04-29T03:08:33Z</dcterms:modified>
  <cp:category/>
</cp:coreProperties>
</file>